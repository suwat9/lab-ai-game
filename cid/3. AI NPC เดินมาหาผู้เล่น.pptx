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71" r:id="rId3"/>
    <p:sldId id="295" r:id="rId4"/>
    <p:sldId id="298" r:id="rId5"/>
    <p:sldId id="299" r:id="rId6"/>
    <p:sldId id="300" r:id="rId7"/>
    <p:sldId id="270" r:id="rId8"/>
  </p:sldIdLst>
  <p:sldSz cx="12192000" cy="6858000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Mitr" panose="00000500000000000000" pitchFamily="2" charset="-34"/>
      <p:regular r:id="rId13"/>
      <p:bold r:id="rId14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11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C57BD-FDF3-B4F6-385F-EFF10A044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3AB72-689A-FCFF-AD68-A4AADE4AD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F3E14-1681-8C65-EB81-315855E7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9886F-1679-E56F-E019-7479D4AF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765A0-A33C-55D2-A9EA-FE955786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41790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D9A2-06CA-7EBB-5CCF-E0F51E91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E0E5F-FF31-1F91-B49A-C5F1EE338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11B5-84A9-2A50-8145-68EA6F26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478ED-AFF5-56B1-39B1-D5C9A671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67E3C-E0CA-A0CA-9110-BADD3A96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4380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3E76-BA55-5FFF-76AF-F24D96CC3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4EE6F-F3F7-241E-E96F-64FE17C75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4E584-7FC1-7664-F052-5AF297F7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B4195-4D05-ECF2-B355-8206EE7B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956C-65A2-4C37-4C56-B9837D12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939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2901-7AE3-F168-07A0-46F470B0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46719-A193-CAAC-FFCF-34CF1C92F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92E6D-4B4B-9A5D-4FCC-2F32A3A74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2A753-7884-19CA-4A6F-53AE5319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D239C-C50B-9511-6024-E2B42A283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FB607-6D88-7BCA-9FB4-8E272CA7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01657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39BB-D7AE-88CD-A4E4-CD5F06C48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993CE-5D23-1C4E-C534-3C6B15EB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E14E1-42E2-80CF-164A-BA3602F7C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52DF0-498E-E42A-F5D7-C8B198E9D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4F0E8-9240-452C-DEFF-64296B8D5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D479BE-E219-B610-4797-794893E43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8E44E-53B7-F483-9EB1-8A4AD5AB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953FC7-0FAD-FE7B-2CA9-C0560EA9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0613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E084-E033-DF91-28A0-7CD7238D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A017E-2D70-DDC4-A172-F3C77E56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FA681-91BC-122D-0DAA-98D7827E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E67DE-D860-E9E2-DDD5-3999121A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8294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80326-AA5D-F17C-FED6-5303CF91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05FE8E-DA65-2539-6509-F85479D9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6C14F-AC2D-78C3-D5F8-799450586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08629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A0474-BCDA-F21C-7DCF-40E90303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66FB8-74E8-C2CE-7091-3A359C39F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CDA9A-0B39-EC0F-4843-95B607CF1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2CB4F-BF00-3C8E-9E7E-7EFF6E4E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FE9C3-D135-2D77-F3BD-64B1414AB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0C831-494C-0441-834A-1C80A7D8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757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4204-0749-B36D-24A6-15B57975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5A5A3-770F-EA3B-E1BE-9845841AE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9ACEF-C465-BA73-EAA9-B0662AA6A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490F9-90C9-136D-E1F4-3FC4870E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4CD84-E883-2BFC-187B-FC75FD58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3BDF4-4840-18AF-AAC3-2D63A343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763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2484-4F42-0DD6-5009-492B13F0F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E6C85-313B-C399-EA44-5BC76499C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087D-E101-A435-0303-B055E937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3AF99-053C-5D54-C1AF-B831B942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703E5-2059-BD82-D71D-FD15F88C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2512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EEB9F4-411D-2ACC-2FF0-E1D2E1B76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CFEEB-0E60-A22F-418F-BDF11A639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C10C4-A333-2292-61F9-3D6FE802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59F4-9971-B1D8-9A9B-496F5320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D9906-B84C-E835-50BC-B1D98C84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1203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A82EA-AE4A-2DFB-8219-9802A586E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8ED7-C102-5D68-C345-DD8F7F768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CD894-79E7-5ABE-F369-4B9393001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8C5C2-4312-4121-8782-35D3C89B5A24}" type="datetimeFigureOut">
              <a:rPr lang="th-TH" smtClean="0"/>
              <a:t>16/12/67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74940-9E4B-9B6F-E300-C5E4B2BBD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AA105-BAA2-1F82-4CC0-F0430BDAC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4FC92-4F12-4BC6-B216-9ACC818E64A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1146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776D29F-0A2C-4F75-8582-7C7DFCBD1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7B0DA-B06B-A4C8-764C-7023FD612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74819"/>
            <a:ext cx="4844143" cy="3446141"/>
          </a:xfrm>
        </p:spPr>
        <p:txBody>
          <a:bodyPr>
            <a:normAutofit/>
          </a:bodyPr>
          <a:lstStyle/>
          <a:p>
            <a:r>
              <a:rPr lang="en-US" sz="6100" dirty="0">
                <a:solidFill>
                  <a:schemeClr val="accent1">
                    <a:lumMod val="20000"/>
                    <a:lumOff val="80000"/>
                  </a:schemeClr>
                </a:solidFill>
                <a:latin typeface="Mitr" panose="00000500000000000000" pitchFamily="2" charset="-34"/>
                <a:cs typeface="Mitr" panose="00000500000000000000" pitchFamily="2" charset="-34"/>
              </a:rPr>
              <a:t>NPC </a:t>
            </a:r>
            <a:r>
              <a:rPr lang="th-TH" sz="6100" dirty="0">
                <a:solidFill>
                  <a:schemeClr val="accent1">
                    <a:lumMod val="20000"/>
                    <a:lumOff val="80000"/>
                  </a:schemeClr>
                </a:solidFill>
                <a:latin typeface="Mitr" panose="00000500000000000000" pitchFamily="2" charset="-34"/>
                <a:cs typeface="Mitr" panose="00000500000000000000" pitchFamily="2" charset="-34"/>
              </a:rPr>
              <a:t>เดินมาหาผู้เล่น</a:t>
            </a:r>
            <a:endParaRPr lang="th-TH" sz="6100" dirty="0">
              <a:solidFill>
                <a:schemeClr val="accent4">
                  <a:lumMod val="60000"/>
                  <a:lumOff val="40000"/>
                </a:schemeClr>
              </a:solidFill>
              <a:latin typeface="Mitr" panose="00000500000000000000" pitchFamily="2" charset="-34"/>
              <a:cs typeface="Mitr" panose="00000500000000000000" pitchFamily="2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9AEAC-8566-469F-D074-250C64302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08000"/>
            <a:ext cx="12125405" cy="1604216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Mitr" panose="00000500000000000000" pitchFamily="2" charset="-34"/>
                <a:cs typeface="Mitr" panose="00000500000000000000" pitchFamily="2" charset="-34"/>
              </a:rPr>
              <a:t>                      Danai </a:t>
            </a:r>
            <a:r>
              <a:rPr lang="en-US" dirty="0" err="1">
                <a:solidFill>
                  <a:schemeClr val="bg1"/>
                </a:solidFill>
                <a:latin typeface="Mitr" panose="00000500000000000000" pitchFamily="2" charset="-34"/>
                <a:cs typeface="Mitr" panose="00000500000000000000" pitchFamily="2" charset="-34"/>
              </a:rPr>
              <a:t>Jedsadathitikul</a:t>
            </a:r>
            <a:endParaRPr lang="en-US" dirty="0">
              <a:solidFill>
                <a:schemeClr val="bg1"/>
              </a:solidFill>
              <a:latin typeface="Mitr" panose="00000500000000000000" pitchFamily="2" charset="-34"/>
              <a:cs typeface="Mitr" panose="00000500000000000000" pitchFamily="2" charset="-34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Mitr" panose="00000500000000000000" pitchFamily="2" charset="-34"/>
                <a:cs typeface="Mitr" panose="00000500000000000000" pitchFamily="2" charset="-34"/>
              </a:rPr>
              <a:t>                      Jarut Busarathid</a:t>
            </a:r>
          </a:p>
          <a:p>
            <a:pPr algn="l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Mitr" panose="00000500000000000000" pitchFamily="2" charset="-34"/>
                <a:cs typeface="Mitr" panose="00000500000000000000" pitchFamily="2" charset="-34"/>
              </a:rPr>
              <a:t>                      </a:t>
            </a:r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Mitr" panose="00000500000000000000" pitchFamily="2" charset="-34"/>
                <a:cs typeface="Mitr" panose="00000500000000000000" pitchFamily="2" charset="-34"/>
              </a:rPr>
              <a:t>DcG.IT@PBRU</a:t>
            </a:r>
            <a:endParaRPr lang="th-TH" dirty="0">
              <a:solidFill>
                <a:schemeClr val="accent1">
                  <a:lumMod val="20000"/>
                  <a:lumOff val="80000"/>
                </a:schemeClr>
              </a:solidFill>
              <a:latin typeface="Mitr" panose="00000500000000000000" pitchFamily="2" charset="-34"/>
              <a:cs typeface="Mitr" panose="00000500000000000000" pitchFamily="2" charset="-34"/>
            </a:endParaRPr>
          </a:p>
        </p:txBody>
      </p:sp>
      <p:pic>
        <p:nvPicPr>
          <p:cNvPr id="5" name="Picture 4" descr="A round logo with a cartoon cat&#10;&#10;Description automatically generated">
            <a:extLst>
              <a:ext uri="{FF2B5EF4-FFF2-40B4-BE49-F238E27FC236}">
                <a16:creationId xmlns:a16="http://schemas.microsoft.com/office/drawing/2014/main" id="{2687505E-28FB-B139-6815-2DC54DF80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5" r="4322" b="2"/>
          <a:stretch/>
        </p:blipFill>
        <p:spPr>
          <a:xfrm>
            <a:off x="5682343" y="1"/>
            <a:ext cx="6509657" cy="6857999"/>
          </a:xfrm>
          <a:custGeom>
            <a:avLst/>
            <a:gdLst/>
            <a:ahLst/>
            <a:cxnLst/>
            <a:rect l="l" t="t" r="r" b="b"/>
            <a:pathLst>
              <a:path w="650965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0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3" y="528850"/>
                  <a:pt x="335480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2" y="612658"/>
                </a:lnTo>
                <a:cubicBezTo>
                  <a:pt x="358987" y="604728"/>
                  <a:pt x="357230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8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5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509657" y="0"/>
                </a:lnTo>
                <a:lnTo>
                  <a:pt x="650965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0" y="6796804"/>
                </a:lnTo>
                <a:cubicBezTo>
                  <a:pt x="32161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5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7" y="6463490"/>
                </a:cubicBezTo>
                <a:cubicBezTo>
                  <a:pt x="116556" y="6431292"/>
                  <a:pt x="131034" y="6400429"/>
                  <a:pt x="146086" y="6363664"/>
                </a:cubicBezTo>
                <a:cubicBezTo>
                  <a:pt x="142275" y="6350899"/>
                  <a:pt x="131986" y="6331277"/>
                  <a:pt x="131034" y="6311084"/>
                </a:cubicBezTo>
                <a:cubicBezTo>
                  <a:pt x="127795" y="6246121"/>
                  <a:pt x="145513" y="6185351"/>
                  <a:pt x="173518" y="6127247"/>
                </a:cubicBezTo>
                <a:cubicBezTo>
                  <a:pt x="181899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5" y="6056948"/>
                </a:cubicBezTo>
                <a:cubicBezTo>
                  <a:pt x="243432" y="6050282"/>
                  <a:pt x="242863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1" y="5900735"/>
                  <a:pt x="264200" y="5897114"/>
                </a:cubicBezTo>
                <a:cubicBezTo>
                  <a:pt x="268199" y="5891590"/>
                  <a:pt x="274295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8" y="5779191"/>
                  <a:pt x="299823" y="5771953"/>
                  <a:pt x="302870" y="5765474"/>
                </a:cubicBezTo>
                <a:cubicBezTo>
                  <a:pt x="305728" y="5759378"/>
                  <a:pt x="310683" y="5754234"/>
                  <a:pt x="313730" y="5748136"/>
                </a:cubicBezTo>
                <a:cubicBezTo>
                  <a:pt x="321920" y="5731564"/>
                  <a:pt x="329541" y="5714607"/>
                  <a:pt x="338685" y="5695178"/>
                </a:cubicBezTo>
                <a:cubicBezTo>
                  <a:pt x="321541" y="5684320"/>
                  <a:pt x="331257" y="5669647"/>
                  <a:pt x="339447" y="5651360"/>
                </a:cubicBezTo>
                <a:cubicBezTo>
                  <a:pt x="347830" y="5632691"/>
                  <a:pt x="350497" y="5611164"/>
                  <a:pt x="353545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5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2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2" y="4346201"/>
                  <a:pt x="391265" y="4340674"/>
                  <a:pt x="392218" y="4335722"/>
                </a:cubicBezTo>
                <a:cubicBezTo>
                  <a:pt x="401743" y="4281810"/>
                  <a:pt x="387838" y="4231324"/>
                  <a:pt x="369547" y="4181603"/>
                </a:cubicBezTo>
                <a:cubicBezTo>
                  <a:pt x="367643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6" y="4078159"/>
                  <a:pt x="348211" y="4040058"/>
                  <a:pt x="331447" y="4003861"/>
                </a:cubicBezTo>
                <a:cubicBezTo>
                  <a:pt x="314494" y="3967091"/>
                  <a:pt x="300203" y="3932993"/>
                  <a:pt x="317349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3" y="3799258"/>
                  <a:pt x="307443" y="3784397"/>
                </a:cubicBezTo>
                <a:cubicBezTo>
                  <a:pt x="307443" y="3744770"/>
                  <a:pt x="297345" y="3709529"/>
                  <a:pt x="276771" y="3675238"/>
                </a:cubicBezTo>
                <a:cubicBezTo>
                  <a:pt x="268770" y="3661899"/>
                  <a:pt x="274106" y="3641134"/>
                  <a:pt x="272009" y="3623799"/>
                </a:cubicBezTo>
                <a:cubicBezTo>
                  <a:pt x="269533" y="3605509"/>
                  <a:pt x="267247" y="3586653"/>
                  <a:pt x="261720" y="3569124"/>
                </a:cubicBezTo>
                <a:cubicBezTo>
                  <a:pt x="247243" y="3523785"/>
                  <a:pt x="230859" y="3479015"/>
                  <a:pt x="215618" y="3433866"/>
                </a:cubicBezTo>
                <a:cubicBezTo>
                  <a:pt x="203045" y="3396719"/>
                  <a:pt x="212951" y="3360139"/>
                  <a:pt x="218286" y="3323372"/>
                </a:cubicBezTo>
                <a:cubicBezTo>
                  <a:pt x="221715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5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5" y="2966742"/>
                  <a:pt x="144560" y="2940455"/>
                  <a:pt x="128366" y="2910353"/>
                </a:cubicBezTo>
                <a:cubicBezTo>
                  <a:pt x="117318" y="2889587"/>
                  <a:pt x="109126" y="2866918"/>
                  <a:pt x="102268" y="2844248"/>
                </a:cubicBezTo>
                <a:cubicBezTo>
                  <a:pt x="93313" y="2813958"/>
                  <a:pt x="87978" y="2782716"/>
                  <a:pt x="79216" y="2752235"/>
                </a:cubicBezTo>
                <a:cubicBezTo>
                  <a:pt x="66072" y="2706131"/>
                  <a:pt x="55785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1" y="2360933"/>
                </a:cubicBezTo>
                <a:cubicBezTo>
                  <a:pt x="28541" y="2356744"/>
                  <a:pt x="36543" y="2344741"/>
                  <a:pt x="37877" y="2335405"/>
                </a:cubicBezTo>
                <a:cubicBezTo>
                  <a:pt x="41877" y="2307402"/>
                  <a:pt x="35971" y="2281683"/>
                  <a:pt x="23017" y="2254633"/>
                </a:cubicBezTo>
                <a:cubicBezTo>
                  <a:pt x="10824" y="2229296"/>
                  <a:pt x="12158" y="2197670"/>
                  <a:pt x="7395" y="2168903"/>
                </a:cubicBezTo>
                <a:cubicBezTo>
                  <a:pt x="5680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4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68" y="1851709"/>
                  <a:pt x="52545" y="1813610"/>
                  <a:pt x="68738" y="1768838"/>
                </a:cubicBezTo>
                <a:cubicBezTo>
                  <a:pt x="85886" y="1721785"/>
                  <a:pt x="112174" y="1676253"/>
                  <a:pt x="104363" y="1623675"/>
                </a:cubicBezTo>
                <a:cubicBezTo>
                  <a:pt x="99601" y="1591859"/>
                  <a:pt x="88551" y="1561189"/>
                  <a:pt x="81882" y="1529563"/>
                </a:cubicBezTo>
                <a:cubicBezTo>
                  <a:pt x="79597" y="1518324"/>
                  <a:pt x="79978" y="1505751"/>
                  <a:pt x="82264" y="1494509"/>
                </a:cubicBezTo>
                <a:cubicBezTo>
                  <a:pt x="92743" y="1440216"/>
                  <a:pt x="94266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6" y="1151600"/>
                </a:cubicBezTo>
                <a:cubicBezTo>
                  <a:pt x="100553" y="1134834"/>
                  <a:pt x="96553" y="1114449"/>
                  <a:pt x="98077" y="1095972"/>
                </a:cubicBezTo>
                <a:cubicBezTo>
                  <a:pt x="99409" y="1078826"/>
                  <a:pt x="99981" y="1061298"/>
                  <a:pt x="104363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3" y="949281"/>
                  <a:pt x="103219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6" y="694576"/>
                </a:cubicBezTo>
                <a:cubicBezTo>
                  <a:pt x="102268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2" y="531310"/>
                  <a:pt x="114080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6" y="340425"/>
                  <a:pt x="88551" y="300800"/>
                  <a:pt x="84930" y="261173"/>
                </a:cubicBezTo>
                <a:cubicBezTo>
                  <a:pt x="84168" y="252600"/>
                  <a:pt x="88933" y="243648"/>
                  <a:pt x="89313" y="234883"/>
                </a:cubicBezTo>
                <a:cubicBezTo>
                  <a:pt x="90266" y="207450"/>
                  <a:pt x="90457" y="180017"/>
                  <a:pt x="91026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8" y="85336"/>
                  <a:pt x="98077" y="66857"/>
                  <a:pt x="83217" y="47806"/>
                </a:cubicBezTo>
                <a:cubicBezTo>
                  <a:pt x="77453" y="40471"/>
                  <a:pt x="73691" y="32636"/>
                  <a:pt x="71206" y="24480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D41903-2C9D-4F9E-AA1F-6161F8A6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6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E4574B5-C90E-412D-BAB0-B9F483290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8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7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7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 descr="A low poly person in low poly style&#10;&#10;Description automatically generated">
            <a:extLst>
              <a:ext uri="{FF2B5EF4-FFF2-40B4-BE49-F238E27FC236}">
                <a16:creationId xmlns:a16="http://schemas.microsoft.com/office/drawing/2014/main" id="{C21E1528-DB64-5950-3E65-6F65C1F539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52571" y="4621504"/>
            <a:ext cx="3239463" cy="182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93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08D8-44EF-909D-2030-6D438626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ทิศที่ผู้เล่นหันหัวหรือกำลังมอง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C4CE4-275F-B5B1-7234-6A6E03DDB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Vector3 forward = </a:t>
            </a:r>
            <a:r>
              <a:rPr lang="en-US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transform</a:t>
            </a:r>
            <a:r>
              <a:rPr lang="en-US" b="1" dirty="0" err="1"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forward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Debug.Log</a:t>
            </a:r>
            <a:r>
              <a:rPr lang="en-US" dirty="0">
                <a:latin typeface="Consolas" panose="020B0609020204030204" pitchFamily="49" charset="0"/>
              </a:rPr>
              <a:t>("</a:t>
            </a: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ผู้เล่นหันหน้าไปทาง: </a:t>
            </a:r>
            <a:r>
              <a:rPr lang="en-US" dirty="0">
                <a:latin typeface="Consolas" panose="020B0609020204030204" pitchFamily="49" charset="0"/>
              </a:rPr>
              <a:t>"+forward);</a:t>
            </a:r>
            <a:endParaRPr lang="th-TH" dirty="0">
              <a:latin typeface="Consolas" panose="020B0609020204030204" pitchFamily="49" charset="0"/>
            </a:endParaRPr>
          </a:p>
        </p:txBody>
      </p:sp>
      <p:pic>
        <p:nvPicPr>
          <p:cNvPr id="4" name="Picture 3" descr="A low poly person in low poly style&#10;&#10;Description automatically generated">
            <a:extLst>
              <a:ext uri="{FF2B5EF4-FFF2-40B4-BE49-F238E27FC236}">
                <a16:creationId xmlns:a16="http://schemas.microsoft.com/office/drawing/2014/main" id="{3A603434-7B58-7352-C0B0-3DF9EF36E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5073" y="5586929"/>
            <a:ext cx="2259681" cy="1271071"/>
          </a:xfrm>
          <a:prstGeom prst="rect">
            <a:avLst/>
          </a:prstGeom>
        </p:spPr>
      </p:pic>
      <p:pic>
        <p:nvPicPr>
          <p:cNvPr id="5" name="Picture 4" descr="A round logo with a cartoon cat&#10;&#10;Description automatically generated">
            <a:extLst>
              <a:ext uri="{FF2B5EF4-FFF2-40B4-BE49-F238E27FC236}">
                <a16:creationId xmlns:a16="http://schemas.microsoft.com/office/drawing/2014/main" id="{EB3FBBC5-A770-03A9-9C3B-0CF6558DE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444" y="6060934"/>
            <a:ext cx="746126" cy="7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66B3-5F6C-0C18-A13C-87838A75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0254-D68D-69A7-871F-3CA14F6D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itr" panose="00000500000000000000" pitchFamily="2" charset="-34"/>
                <a:cs typeface="Mitr" panose="00000500000000000000" pitchFamily="2" charset="-34"/>
              </a:rPr>
              <a:t> NPC </a:t>
            </a: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ที่เดินไปหาผู้เล่น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A01E-578C-1B6C-743B-AF21C70A1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สร้างพื้น (</a:t>
            </a:r>
            <a:r>
              <a:rPr lang="en-US" dirty="0">
                <a:latin typeface="Mitr" panose="00000500000000000000" pitchFamily="2" charset="-34"/>
                <a:cs typeface="Mitr" panose="00000500000000000000" pitchFamily="2" charset="-34"/>
              </a:rPr>
              <a:t>Plane) </a:t>
            </a: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และตัวละคร </a:t>
            </a:r>
            <a:r>
              <a:rPr lang="en-US" dirty="0">
                <a:latin typeface="Mitr" panose="00000500000000000000" pitchFamily="2" charset="-34"/>
                <a:cs typeface="Mitr" panose="00000500000000000000" pitchFamily="2" charset="-34"/>
              </a:rPr>
              <a:t>AI </a:t>
            </a: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ในฉาก</a:t>
            </a:r>
          </a:p>
          <a:p>
            <a:pPr marL="514350" indent="-514350">
              <a:buAutoNum type="arabicPeriod"/>
            </a:pP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ตั้งค่า </a:t>
            </a:r>
            <a:r>
              <a:rPr lang="en-US" dirty="0" err="1">
                <a:latin typeface="Mitr" panose="00000500000000000000" pitchFamily="2" charset="-34"/>
                <a:cs typeface="Mitr" panose="00000500000000000000" pitchFamily="2" charset="-34"/>
              </a:rPr>
              <a:t>NavMesh</a:t>
            </a:r>
            <a:r>
              <a:rPr lang="en-US" dirty="0">
                <a:latin typeface="Mitr" panose="00000500000000000000" pitchFamily="2" charset="-34"/>
                <a:cs typeface="Mitr" panose="00000500000000000000" pitchFamily="2" charset="-34"/>
              </a:rPr>
              <a:t> </a:t>
            </a: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บนพื้น</a:t>
            </a:r>
          </a:p>
          <a:p>
            <a:pPr marL="514350" indent="-514350">
              <a:buAutoNum type="arabicPeriod"/>
            </a:pP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เพิ่ม </a:t>
            </a:r>
            <a:r>
              <a:rPr lang="en-US" dirty="0" err="1">
                <a:latin typeface="Mitr" panose="00000500000000000000" pitchFamily="2" charset="-34"/>
                <a:cs typeface="Mitr" panose="00000500000000000000" pitchFamily="2" charset="-34"/>
              </a:rPr>
              <a:t>NavMesh</a:t>
            </a:r>
            <a:r>
              <a:rPr lang="en-US" dirty="0">
                <a:latin typeface="Mitr" panose="00000500000000000000" pitchFamily="2" charset="-34"/>
                <a:cs typeface="Mitr" panose="00000500000000000000" pitchFamily="2" charset="-34"/>
              </a:rPr>
              <a:t> Agent </a:t>
            </a: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ให้ตัว </a:t>
            </a:r>
            <a:r>
              <a:rPr lang="en-US" dirty="0">
                <a:latin typeface="Mitr" panose="00000500000000000000" pitchFamily="2" charset="-34"/>
                <a:cs typeface="Mitr" panose="00000500000000000000" pitchFamily="2" charset="-34"/>
              </a:rPr>
              <a:t>NPC</a:t>
            </a:r>
            <a:endParaRPr lang="th-TH" dirty="0">
              <a:latin typeface="Mitr" panose="00000500000000000000" pitchFamily="2" charset="-34"/>
              <a:cs typeface="Mitr" panose="00000500000000000000" pitchFamily="2" charset="-34"/>
            </a:endParaRPr>
          </a:p>
          <a:p>
            <a:pPr marL="514350" indent="-514350">
              <a:buAutoNum type="arabicPeriod"/>
            </a:pP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เขียนสคริปต์ให้ </a:t>
            </a:r>
            <a:r>
              <a:rPr lang="en-US" dirty="0">
                <a:latin typeface="Mitr" panose="00000500000000000000" pitchFamily="2" charset="-34"/>
                <a:cs typeface="Mitr" panose="00000500000000000000" pitchFamily="2" charset="-34"/>
              </a:rPr>
              <a:t>NPC </a:t>
            </a: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เดินไปหาผู้เล่นโดยใช้ตำแหน่งของ </a:t>
            </a:r>
            <a:r>
              <a:rPr lang="en-US" dirty="0">
                <a:latin typeface="Mitr" panose="00000500000000000000" pitchFamily="2" charset="-34"/>
                <a:cs typeface="Mitr" panose="00000500000000000000" pitchFamily="2" charset="-34"/>
              </a:rPr>
              <a:t>Player </a:t>
            </a:r>
            <a:r>
              <a:rPr lang="th-TH" dirty="0">
                <a:latin typeface="Mitr" panose="00000500000000000000" pitchFamily="2" charset="-34"/>
                <a:cs typeface="Mitr" panose="00000500000000000000" pitchFamily="2" charset="-34"/>
              </a:rPr>
              <a:t>เป็น </a:t>
            </a:r>
            <a:r>
              <a:rPr lang="en-US" dirty="0">
                <a:latin typeface="Mitr" panose="00000500000000000000" pitchFamily="2" charset="-34"/>
                <a:cs typeface="Mitr" panose="00000500000000000000" pitchFamily="2" charset="-34"/>
              </a:rPr>
              <a:t>Target</a:t>
            </a:r>
            <a:endParaRPr lang="th-TH" dirty="0">
              <a:latin typeface="Mitr" panose="00000500000000000000" pitchFamily="2" charset="-34"/>
              <a:cs typeface="Mitr" panose="00000500000000000000" pitchFamily="2" charset="-34"/>
            </a:endParaRPr>
          </a:p>
        </p:txBody>
      </p:sp>
      <p:pic>
        <p:nvPicPr>
          <p:cNvPr id="4" name="Picture 3" descr="A low poly person in low poly style&#10;&#10;Description automatically generated">
            <a:extLst>
              <a:ext uri="{FF2B5EF4-FFF2-40B4-BE49-F238E27FC236}">
                <a16:creationId xmlns:a16="http://schemas.microsoft.com/office/drawing/2014/main" id="{58197D92-FD70-3A91-D4E9-D075DC363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5073" y="5586929"/>
            <a:ext cx="2259681" cy="1271071"/>
          </a:xfrm>
          <a:prstGeom prst="rect">
            <a:avLst/>
          </a:prstGeom>
        </p:spPr>
      </p:pic>
      <p:pic>
        <p:nvPicPr>
          <p:cNvPr id="5" name="Picture 4" descr="A round logo with a cartoon cat&#10;&#10;Description automatically generated">
            <a:extLst>
              <a:ext uri="{FF2B5EF4-FFF2-40B4-BE49-F238E27FC236}">
                <a16:creationId xmlns:a16="http://schemas.microsoft.com/office/drawing/2014/main" id="{2D410609-CDEA-304F-4A76-3E8F4EE26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444" y="6060934"/>
            <a:ext cx="746126" cy="7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07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87EB6-B841-5A33-6909-8DC5F3779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05545D-6AA9-9117-5347-DB2A2075D125}"/>
              </a:ext>
            </a:extLst>
          </p:cNvPr>
          <p:cNvSpPr txBox="1"/>
          <p:nvPr/>
        </p:nvSpPr>
        <p:spPr>
          <a:xfrm>
            <a:off x="375237" y="338099"/>
            <a:ext cx="1144152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public class </a:t>
            </a:r>
            <a:r>
              <a:rPr lang="en-US" sz="2400" dirty="0" err="1">
                <a:latin typeface="Consolas" panose="020B0609020204030204" pitchFamily="49" charset="0"/>
                <a:cs typeface="Mitr" panose="00000500000000000000" pitchFamily="2" charset="-34"/>
              </a:rPr>
              <a:t>FollowPlayer</a:t>
            </a:r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: </a:t>
            </a:r>
            <a:r>
              <a:rPr lang="en-US" sz="2400" dirty="0" err="1">
                <a:latin typeface="Consolas" panose="020B0609020204030204" pitchFamily="49" charset="0"/>
                <a:cs typeface="Mitr" panose="00000500000000000000" pitchFamily="2" charset="-34"/>
              </a:rPr>
              <a:t>MonoBehaviour</a:t>
            </a:r>
            <a:endParaRPr lang="en-US" sz="2400" dirty="0">
              <a:latin typeface="Consolas" panose="020B0609020204030204" pitchFamily="49" charset="0"/>
              <a:cs typeface="Mitr" panose="00000500000000000000" pitchFamily="2" charset="-34"/>
            </a:endParaRP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public Transform player;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private </a:t>
            </a:r>
            <a:r>
              <a:rPr lang="en-US" sz="2400" dirty="0" err="1">
                <a:latin typeface="Consolas" panose="020B0609020204030204" pitchFamily="49" charset="0"/>
                <a:cs typeface="Mitr" panose="00000500000000000000" pitchFamily="2" charset="-34"/>
              </a:rPr>
              <a:t>NavMeshAgent</a:t>
            </a:r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agent;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void Start()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{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    agent = </a:t>
            </a:r>
            <a:r>
              <a:rPr lang="en-US" sz="2400" dirty="0" err="1">
                <a:latin typeface="Consolas" panose="020B0609020204030204" pitchFamily="49" charset="0"/>
                <a:cs typeface="Mitr" panose="00000500000000000000" pitchFamily="2" charset="-34"/>
              </a:rPr>
              <a:t>GetComponent</a:t>
            </a:r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&lt;</a:t>
            </a:r>
            <a:r>
              <a:rPr lang="en-US" sz="2400" dirty="0" err="1">
                <a:latin typeface="Consolas" panose="020B0609020204030204" pitchFamily="49" charset="0"/>
                <a:cs typeface="Mitr" panose="00000500000000000000" pitchFamily="2" charset="-34"/>
              </a:rPr>
              <a:t>NavMeshAgent</a:t>
            </a:r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&gt;();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void Update()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{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Mitr" panose="00000500000000000000" pitchFamily="2" charset="-34"/>
              </a:rPr>
              <a:t>agent.SetDestination</a:t>
            </a:r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(</a:t>
            </a:r>
            <a:r>
              <a:rPr lang="en-US" sz="2400" dirty="0" err="1">
                <a:latin typeface="Consolas" panose="020B0609020204030204" pitchFamily="49" charset="0"/>
                <a:cs typeface="Mitr" panose="00000500000000000000" pitchFamily="2" charset="-34"/>
              </a:rPr>
              <a:t>player.position</a:t>
            </a:r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);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Mitr" panose="00000500000000000000" pitchFamily="2" charset="-34"/>
              </a:rPr>
              <a:t>}</a:t>
            </a:r>
          </a:p>
        </p:txBody>
      </p:sp>
      <p:pic>
        <p:nvPicPr>
          <p:cNvPr id="6" name="Picture 5" descr="A low poly person in low poly style&#10;&#10;Description automatically generated">
            <a:extLst>
              <a:ext uri="{FF2B5EF4-FFF2-40B4-BE49-F238E27FC236}">
                <a16:creationId xmlns:a16="http://schemas.microsoft.com/office/drawing/2014/main" id="{ADF8E8C6-997E-6C19-019E-6AB6297CF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5073" y="5586929"/>
            <a:ext cx="2259681" cy="1271071"/>
          </a:xfrm>
          <a:prstGeom prst="rect">
            <a:avLst/>
          </a:prstGeom>
        </p:spPr>
      </p:pic>
      <p:pic>
        <p:nvPicPr>
          <p:cNvPr id="7" name="Picture 6" descr="A round logo with a cartoon cat&#10;&#10;Description automatically generated">
            <a:extLst>
              <a:ext uri="{FF2B5EF4-FFF2-40B4-BE49-F238E27FC236}">
                <a16:creationId xmlns:a16="http://schemas.microsoft.com/office/drawing/2014/main" id="{74F4B363-5C24-9471-4D2C-E44E3A3C1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444" y="6060934"/>
            <a:ext cx="746126" cy="7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4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E928-1DF7-51D3-6DFD-BB4C6501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933B-D12B-1E5C-B04D-1F4CEBF2F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29389"/>
          </a:xfrm>
        </p:spPr>
        <p:txBody>
          <a:bodyPr>
            <a:normAutofit/>
          </a:bodyPr>
          <a:lstStyle/>
          <a:p>
            <a:pPr algn="ctr"/>
            <a:r>
              <a:rPr lang="th-TH" sz="4000" dirty="0">
                <a:latin typeface="Mitr" panose="00000500000000000000" pitchFamily="2" charset="-34"/>
                <a:cs typeface="Mitr" panose="00000500000000000000" pitchFamily="2" charset="-34"/>
              </a:rPr>
              <a:t>ใช้ </a:t>
            </a:r>
            <a:r>
              <a:rPr lang="en-US" sz="4000" dirty="0" err="1">
                <a:latin typeface="Mitr" panose="00000500000000000000" pitchFamily="2" charset="-34"/>
                <a:cs typeface="Mitr" panose="00000500000000000000" pitchFamily="2" charset="-34"/>
              </a:rPr>
              <a:t>NavMesh</a:t>
            </a:r>
            <a:r>
              <a:rPr lang="en-US" sz="4000" dirty="0">
                <a:latin typeface="Mitr" panose="00000500000000000000" pitchFamily="2" charset="-34"/>
                <a:cs typeface="Mitr" panose="00000500000000000000" pitchFamily="2" charset="-34"/>
              </a:rPr>
              <a:t> Link </a:t>
            </a:r>
            <a:r>
              <a:rPr lang="th-TH" sz="4000" dirty="0">
                <a:latin typeface="Mitr" panose="00000500000000000000" pitchFamily="2" charset="-34"/>
                <a:cs typeface="Mitr" panose="00000500000000000000" pitchFamily="2" charset="-34"/>
              </a:rPr>
              <a:t>เพื่อเชื่อมพื้นที่ที่ไม่ได้อยู่ในระดับเดียวกัน (เช่น บันได หรือสะพาน)</a:t>
            </a:r>
            <a:br>
              <a:rPr lang="th-TH" sz="4000" dirty="0">
                <a:latin typeface="Mitr" panose="00000500000000000000" pitchFamily="2" charset="-34"/>
                <a:cs typeface="Mitr" panose="00000500000000000000" pitchFamily="2" charset="-34"/>
              </a:rPr>
            </a:br>
            <a:endParaRPr lang="th-TH" sz="4000" dirty="0">
              <a:latin typeface="Mitr" panose="00000500000000000000" pitchFamily="2" charset="-34"/>
              <a:cs typeface="Mitr" panose="00000500000000000000" pitchFamily="2" charset="-34"/>
            </a:endParaRPr>
          </a:p>
        </p:txBody>
      </p:sp>
      <p:pic>
        <p:nvPicPr>
          <p:cNvPr id="4" name="Picture 3" descr="A low poly person in low poly style&#10;&#10;Description automatically generated">
            <a:extLst>
              <a:ext uri="{FF2B5EF4-FFF2-40B4-BE49-F238E27FC236}">
                <a16:creationId xmlns:a16="http://schemas.microsoft.com/office/drawing/2014/main" id="{04DCF2DC-3DAB-7272-BE43-3D851E1A4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5073" y="5586929"/>
            <a:ext cx="2259681" cy="1271071"/>
          </a:xfrm>
          <a:prstGeom prst="rect">
            <a:avLst/>
          </a:prstGeom>
        </p:spPr>
      </p:pic>
      <p:pic>
        <p:nvPicPr>
          <p:cNvPr id="5" name="Picture 4" descr="A round logo with a cartoon cat&#10;&#10;Description automatically generated">
            <a:extLst>
              <a:ext uri="{FF2B5EF4-FFF2-40B4-BE49-F238E27FC236}">
                <a16:creationId xmlns:a16="http://schemas.microsoft.com/office/drawing/2014/main" id="{35AF7061-BF59-0C75-69E8-DD07B6092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444" y="6060934"/>
            <a:ext cx="746126" cy="7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1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E0C0-3DBB-53A7-F40A-599FE31D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C4A5-2EEA-59B4-AD08-B5495966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29389"/>
          </a:xfrm>
        </p:spPr>
        <p:txBody>
          <a:bodyPr>
            <a:normAutofit/>
          </a:bodyPr>
          <a:lstStyle/>
          <a:p>
            <a:pPr algn="ctr"/>
            <a:r>
              <a:rPr lang="th-TH" sz="4000" dirty="0">
                <a:latin typeface="Mitr" panose="00000500000000000000" pitchFamily="2" charset="-34"/>
                <a:cs typeface="Mitr" panose="00000500000000000000" pitchFamily="2" charset="-34"/>
              </a:rPr>
              <a:t>หากต้องการให้ </a:t>
            </a:r>
            <a:r>
              <a:rPr lang="en-US" sz="4000" dirty="0">
                <a:latin typeface="Mitr" panose="00000500000000000000" pitchFamily="2" charset="-34"/>
                <a:cs typeface="Mitr" panose="00000500000000000000" pitchFamily="2" charset="-34"/>
              </a:rPr>
              <a:t>NPC </a:t>
            </a:r>
            <a:r>
              <a:rPr lang="th-TH" sz="4000" dirty="0">
                <a:latin typeface="Mitr" panose="00000500000000000000" pitchFamily="2" charset="-34"/>
                <a:cs typeface="Mitr" panose="00000500000000000000" pitchFamily="2" charset="-34"/>
              </a:rPr>
              <a:t>เดินหลีกเลี่ยงกันเอง ใช้การปรับค่าคุณสมบัติ </a:t>
            </a:r>
            <a:r>
              <a:rPr lang="en-US" sz="4000" dirty="0">
                <a:latin typeface="Mitr" panose="00000500000000000000" pitchFamily="2" charset="-34"/>
                <a:cs typeface="Mitr" panose="00000500000000000000" pitchFamily="2" charset="-34"/>
              </a:rPr>
              <a:t>Avoidance Priority </a:t>
            </a:r>
            <a:r>
              <a:rPr lang="th-TH" sz="4000" dirty="0">
                <a:latin typeface="Mitr" panose="00000500000000000000" pitchFamily="2" charset="-34"/>
                <a:cs typeface="Mitr" panose="00000500000000000000" pitchFamily="2" charset="-34"/>
              </a:rPr>
              <a:t>ใน </a:t>
            </a:r>
            <a:r>
              <a:rPr lang="en-US" sz="4000" dirty="0" err="1">
                <a:latin typeface="Mitr" panose="00000500000000000000" pitchFamily="2" charset="-34"/>
                <a:cs typeface="Mitr" panose="00000500000000000000" pitchFamily="2" charset="-34"/>
              </a:rPr>
              <a:t>NavMesh</a:t>
            </a:r>
            <a:r>
              <a:rPr lang="en-US" sz="4000" dirty="0">
                <a:latin typeface="Mitr" panose="00000500000000000000" pitchFamily="2" charset="-34"/>
                <a:cs typeface="Mitr" panose="00000500000000000000" pitchFamily="2" charset="-34"/>
              </a:rPr>
              <a:t> Agent.</a:t>
            </a:r>
            <a:endParaRPr lang="th-TH" sz="4000" dirty="0">
              <a:latin typeface="Mitr" panose="00000500000000000000" pitchFamily="2" charset="-34"/>
              <a:cs typeface="Mitr" panose="00000500000000000000" pitchFamily="2" charset="-34"/>
            </a:endParaRPr>
          </a:p>
        </p:txBody>
      </p:sp>
      <p:pic>
        <p:nvPicPr>
          <p:cNvPr id="4" name="Picture 3" descr="A low poly person in low poly style&#10;&#10;Description automatically generated">
            <a:extLst>
              <a:ext uri="{FF2B5EF4-FFF2-40B4-BE49-F238E27FC236}">
                <a16:creationId xmlns:a16="http://schemas.microsoft.com/office/drawing/2014/main" id="{CA1D2B94-8113-8A5E-676D-0290355A5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5073" y="5586929"/>
            <a:ext cx="2259681" cy="1271071"/>
          </a:xfrm>
          <a:prstGeom prst="rect">
            <a:avLst/>
          </a:prstGeom>
        </p:spPr>
      </p:pic>
      <p:pic>
        <p:nvPicPr>
          <p:cNvPr id="5" name="Picture 4" descr="A round logo with a cartoon cat&#10;&#10;Description automatically generated">
            <a:extLst>
              <a:ext uri="{FF2B5EF4-FFF2-40B4-BE49-F238E27FC236}">
                <a16:creationId xmlns:a16="http://schemas.microsoft.com/office/drawing/2014/main" id="{E2DA2214-EA89-48E3-4470-0A451B457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444" y="6060934"/>
            <a:ext cx="746126" cy="7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49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79ACE7-9737-1F9C-D33F-1A7029FE0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8952" cy="69231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round logo with a cartoon cat&#10;&#10;Description automatically generated">
            <a:extLst>
              <a:ext uri="{FF2B5EF4-FFF2-40B4-BE49-F238E27FC236}">
                <a16:creationId xmlns:a16="http://schemas.microsoft.com/office/drawing/2014/main" id="{E4A57A5F-0B6F-1A22-3049-E82812FB3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596" y="5402655"/>
            <a:ext cx="1330144" cy="130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92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180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Consolas</vt:lpstr>
      <vt:lpstr>Aptos Display</vt:lpstr>
      <vt:lpstr>Arial</vt:lpstr>
      <vt:lpstr>Aptos</vt:lpstr>
      <vt:lpstr>Mitr</vt:lpstr>
      <vt:lpstr>Office Theme</vt:lpstr>
      <vt:lpstr>NPC เดินมาหาผู้เล่น</vt:lpstr>
      <vt:lpstr>ทิศที่ผู้เล่นหันหัวหรือกำลังมอง</vt:lpstr>
      <vt:lpstr> NPC ที่เดินไปหาผู้เล่น</vt:lpstr>
      <vt:lpstr>PowerPoint Presentation</vt:lpstr>
      <vt:lpstr>ใช้ NavMesh Link เพื่อเชื่อมพื้นที่ที่ไม่ได้อยู่ในระดับเดียวกัน (เช่น บันได หรือสะพาน) </vt:lpstr>
      <vt:lpstr>หากต้องการให้ NPC เดินหลีกเลี่ยงกันเอง ใช้การปรับค่าคุณสมบัติ Avoidance Priority ใน NavMesh Agent.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ผู้ช่วยศาสตราจารย์จารุต  บุศราทิจ</dc:creator>
  <cp:lastModifiedBy>ผู้ช่วยศาสตราจารย์จารุต  บุศราทิจ</cp:lastModifiedBy>
  <cp:revision>112</cp:revision>
  <dcterms:created xsi:type="dcterms:W3CDTF">2024-12-16T03:05:28Z</dcterms:created>
  <dcterms:modified xsi:type="dcterms:W3CDTF">2024-12-16T07:41:36Z</dcterms:modified>
</cp:coreProperties>
</file>